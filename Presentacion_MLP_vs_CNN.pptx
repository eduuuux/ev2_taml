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914" y="9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Imágenes por partición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Imágenes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5599"/>
              </a:solidFill>
            </c:spPr>
            <c:extLst>
              <c:ext xmlns:c16="http://schemas.microsoft.com/office/drawing/2014/chart" uri="{C3380CC4-5D6E-409C-BE32-E72D297353CC}">
                <c16:uniqueId val="{00000001-78F0-46C5-90AA-7CBC6F270B0B}"/>
              </c:ext>
            </c:extLst>
          </c:dPt>
          <c:dPt>
            <c:idx val="1"/>
            <c:invertIfNegative val="1"/>
            <c:bubble3D val="0"/>
            <c:spPr>
              <a:solidFill>
                <a:srgbClr val="005599"/>
              </a:solidFill>
            </c:spPr>
            <c:extLst>
              <c:ext xmlns:c16="http://schemas.microsoft.com/office/drawing/2014/chart" uri="{C3380CC4-5D6E-409C-BE32-E72D297353CC}">
                <c16:uniqueId val="{00000003-78F0-46C5-90AA-7CBC6F270B0B}"/>
              </c:ext>
            </c:extLst>
          </c:dPt>
          <c:dPt>
            <c:idx val="2"/>
            <c:invertIfNegative val="1"/>
            <c:bubble3D val="0"/>
            <c:spPr>
              <a:solidFill>
                <a:srgbClr val="6B7F99"/>
              </a:solidFill>
            </c:spPr>
            <c:extLst>
              <c:ext xmlns:c16="http://schemas.microsoft.com/office/drawing/2014/chart" uri="{C3380CC4-5D6E-409C-BE32-E72D297353CC}">
                <c16:uniqueId val="{00000005-78F0-46C5-90AA-7CBC6F270B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latin typeface="Arial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Entrenamiento</c:v>
                </c:pt>
                <c:pt idx="1">
                  <c:v>Validación</c:v>
                </c:pt>
                <c:pt idx="2">
                  <c:v>Prueba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8990</c:v>
                </c:pt>
                <c:pt idx="1">
                  <c:v>2248</c:v>
                </c:pt>
                <c:pt idx="2">
                  <c:v>3244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F0-46C5-90AA-7CBC6F270B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B6778"/>
            </a:solidFill>
          </a:ln>
        </c:spPr>
        <c:txPr>
          <a:bodyPr/>
          <a:lstStyle/>
          <a:p>
            <a:pPr>
              <a:defRPr sz="1800">
                <a:latin typeface="Arial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42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Presentar el tema y el equipo. Mensaje central: comparamos una CNN con el MLP de la Evaluación 1 sobre el mismo problema y las mismas condiciones.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Problema: clasificar señas ASL de 28x28 px en 10 clases. Variante propia con semilla 42069. El objetivo es comparar la CNN con el MLP de la Evaluación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Cambio respecto a la E1: la CNN recibe la imagen como matriz (28,28,1) y no como vector de 784. Partición estratificada para mantener proporciones de clase. El test oficial se usa solo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Justificación: una sola capa convolucional para aislar el efecto de aprender filtros espaciales; 32 filtros 3x3 capturan bordes con pocos parámetros; pooling 2x2 da tolerancia a desplazamientos; Dense(128) igual al MLP para comparar de forma justa. La CNN tiene más parámetros porque el Flatten entrega 5.408 valores a la Dense (692.352 pesos).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Condiciones idénticas para ambos modelos, sin capas de regularización (la pauta penaliza capas extra). Las curvas muestran convergencia estable; la CNN converge en pocas épocas. Ojo: val ~100% vs test 92,66%.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Todas las métricas macro mejoran ~5 pp. El costo: 6,8 veces más parámetros y 7,6 veces más tiempo de entrenamiento; la inferencia sigue siendo rápida (0,34 ms por imagen).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clase N concentra los errores: en 28x28 px los puños con el pulgar en distinta posición (N, M, A) se parecen mucho. La CNN corrige muchos errores de otras clases pero no resuelve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Estos ejemplos explican los errores de la matriz de confusión: señas visualmente casi iguales a baja resolución.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capas convolucionales extraen automáticamente características locales (bordes, formas). Grad-CAM sugiere que el modelo mira principalmente la mano, con excepciones que conviene mencionar.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con el trade-off: la CNN gana en desempeño a costa de más parámetros y tiempo. Reconocer las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-10123150">
            <a:off x="-1670279" y="-2851219"/>
            <a:ext cx="6518395" cy="805644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13652521" y="4803297"/>
            <a:ext cx="6518395" cy="805644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 rot="-1756332">
            <a:off x="15707107" y="832927"/>
            <a:ext cx="4463809" cy="5517067"/>
          </a:xfrm>
          <a:custGeom>
            <a:avLst/>
            <a:gdLst/>
            <a:ahLst/>
            <a:cxnLst/>
            <a:rect l="l" t="t" r="r" b="b"/>
            <a:pathLst>
              <a:path w="4463809" h="5517067">
                <a:moveTo>
                  <a:pt x="0" y="0"/>
                </a:moveTo>
                <a:lnTo>
                  <a:pt x="4463809" y="0"/>
                </a:lnTo>
                <a:lnTo>
                  <a:pt x="4463809" y="5517067"/>
                </a:lnTo>
                <a:lnTo>
                  <a:pt x="0" y="5517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 rot="9497470">
            <a:off x="-1901034" y="3797967"/>
            <a:ext cx="4463809" cy="5517067"/>
          </a:xfrm>
          <a:custGeom>
            <a:avLst/>
            <a:gdLst/>
            <a:ahLst/>
            <a:cxnLst/>
            <a:rect l="l" t="t" r="r" b="b"/>
            <a:pathLst>
              <a:path w="4463809" h="5517067">
                <a:moveTo>
                  <a:pt x="0" y="0"/>
                </a:moveTo>
                <a:lnTo>
                  <a:pt x="4463809" y="0"/>
                </a:lnTo>
                <a:lnTo>
                  <a:pt x="4463809" y="5517067"/>
                </a:lnTo>
                <a:lnTo>
                  <a:pt x="0" y="5517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ítulo"/>
          <p:cNvSpPr txBox="1"/>
          <p:nvPr/>
        </p:nvSpPr>
        <p:spPr>
          <a:xfrm>
            <a:off x="4937760" y="2468880"/>
            <a:ext cx="8412480" cy="2743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es-CL" sz="4600" b="1" noProof="0" dirty="0">
                <a:solidFill>
                  <a:srgbClr val="111827"/>
                </a:solidFill>
                <a:latin typeface="Arial"/>
              </a:rPr>
              <a:t>MLP vs CNN en clasificación de Lenguaje de Señas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6400800"/>
            <a:ext cx="8412480" cy="990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800"/>
              </a:spcBef>
            </a:pP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	Ingeniería en Informática, mención Inteligencia Artificial · Evaluación 2</a:t>
            </a:r>
          </a:p>
          <a:p>
            <a:pPr algn="ctr">
              <a:spcBef>
                <a:spcPts val="800"/>
              </a:spcBef>
            </a:pP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Integrantes: </a:t>
            </a:r>
            <a:r>
              <a:rPr lang="es-CL" sz="1700" noProof="0" dirty="0">
                <a:solidFill>
                  <a:srgbClr val="5B6778"/>
                </a:solidFill>
                <a:latin typeface="Arial"/>
              </a:rPr>
              <a:t>Jeremy Concha – Bryan Jara – Eduardo Paredes</a:t>
            </a:r>
            <a:endParaRPr lang="es-CL" sz="1700" b="0" noProof="0" dirty="0">
              <a:solidFill>
                <a:srgbClr val="5B6778"/>
              </a:solidFill>
              <a:latin typeface="Arial"/>
            </a:endParaRPr>
          </a:p>
          <a:p>
            <a:pPr algn="ctr">
              <a:spcBef>
                <a:spcPts val="800"/>
              </a:spcBef>
            </a:pP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Docente: </a:t>
            </a:r>
            <a:r>
              <a:rPr lang="es-CL" sz="1700" b="0" noProof="0" dirty="0" err="1">
                <a:solidFill>
                  <a:srgbClr val="5B6778"/>
                </a:solidFill>
                <a:latin typeface="Arial"/>
              </a:rPr>
              <a:t>Yazna</a:t>
            </a: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 Meza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E6E06A-5C2F-80EC-4AFB-6C523FEC9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0" y="-31173"/>
            <a:ext cx="6284675" cy="1544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Descripción del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2926080" cy="210312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800" b="1" noProof="0" dirty="0">
                <a:solidFill>
                  <a:srgbClr val="00559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clases: A, B, C, D, E, I, L, M, N,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468880"/>
            <a:ext cx="2926080" cy="210312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251960" y="26974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800" b="1" noProof="0" dirty="0">
                <a:solidFill>
                  <a:srgbClr val="005599"/>
                </a:solidFill>
                <a:latin typeface="Arial"/>
              </a:rPr>
              <a:t>28×28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65760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píxeles, escala de grises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468880"/>
            <a:ext cx="2926080" cy="210312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406640" y="26974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800" b="1" noProof="0" dirty="0">
                <a:solidFill>
                  <a:srgbClr val="005599"/>
                </a:solidFill>
                <a:latin typeface="Arial"/>
              </a:rPr>
              <a:t>42069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65760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semilla fija (reproducible)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9326880" cy="361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Clasificar imágenes de señas del alfabeto ASL (</a:t>
            </a:r>
            <a:r>
              <a:rPr lang="es-CL" sz="2400" b="0" noProof="0" dirty="0" err="1">
                <a:solidFill>
                  <a:srgbClr val="111827"/>
                </a:solidFill>
                <a:latin typeface="Arial"/>
              </a:rPr>
              <a:t>Sign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 </a:t>
            </a:r>
            <a:r>
              <a:rPr lang="es-CL" sz="2400" b="0" noProof="0" dirty="0" err="1">
                <a:solidFill>
                  <a:srgbClr val="111827"/>
                </a:solidFill>
                <a:latin typeface="Arial"/>
              </a:rPr>
              <a:t>Language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 MNIST).</a:t>
            </a:r>
          </a:p>
          <a:p>
            <a:pPr algn="l">
              <a:spcBef>
                <a:spcPts val="2000"/>
              </a:spcBef>
            </a:pPr>
            <a:r>
              <a:rPr lang="es-CL" sz="24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Evaluación 1: MLP sobre píxeles aplanados. Evaluación 2: CNN.</a:t>
            </a:r>
          </a:p>
          <a:p>
            <a:pPr algn="l">
              <a:spcBef>
                <a:spcPts val="2000"/>
              </a:spcBef>
            </a:pPr>
            <a:r>
              <a:rPr lang="es-CL" sz="24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400" b="1" noProof="0" dirty="0">
                <a:solidFill>
                  <a:srgbClr val="111827"/>
                </a:solidFill>
                <a:latin typeface="Arial"/>
              </a:rPr>
              <a:t>Pregunta: 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¿conservar la estructura espacial de la imagen mejora la clasificación?</a:t>
            </a:r>
            <a:endParaRPr lang="es-CL" sz="2400" dirty="0">
              <a:solidFill>
                <a:srgbClr val="111827"/>
              </a:solidFill>
              <a:latin typeface="Arial"/>
            </a:endParaRPr>
          </a:p>
          <a:p>
            <a:pPr algn="l">
              <a:spcBef>
                <a:spcPts val="2000"/>
              </a:spcBef>
            </a:pPr>
            <a:endParaRPr lang="es-CL" sz="2400" dirty="0">
              <a:solidFill>
                <a:srgbClr val="111827"/>
              </a:solidFill>
              <a:latin typeface="Arial"/>
            </a:endParaRPr>
          </a:p>
          <a:p>
            <a:pPr algn="l">
              <a:spcBef>
                <a:spcPts val="2000"/>
              </a:spcBef>
            </a:pPr>
            <a:endParaRPr lang="es-CL" sz="2400" dirty="0">
              <a:solidFill>
                <a:srgbClr val="111827"/>
              </a:solidFill>
              <a:latin typeface="Arial"/>
            </a:endParaRPr>
          </a:p>
        </p:txBody>
      </p:sp>
      <p:pic>
        <p:nvPicPr>
          <p:cNvPr id="14" name="Picture 13" descr="crop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743200"/>
            <a:ext cx="3063240" cy="3063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58521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Seña A</a:t>
            </a:r>
          </a:p>
        </p:txBody>
      </p:sp>
      <p:pic>
        <p:nvPicPr>
          <p:cNvPr id="16" name="Picture 15" descr="crop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0" y="2743200"/>
            <a:ext cx="3063240" cy="3063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127480" y="58521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Seña D</a:t>
            </a:r>
          </a:p>
        </p:txBody>
      </p:sp>
      <p:pic>
        <p:nvPicPr>
          <p:cNvPr id="18" name="Picture 17" descr="crop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6309360"/>
            <a:ext cx="3063240" cy="3063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81360" y="9418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Seña O</a:t>
            </a:r>
          </a:p>
        </p:txBody>
      </p:sp>
      <p:pic>
        <p:nvPicPr>
          <p:cNvPr id="20" name="Picture 19" descr="crop_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27480" y="6309360"/>
            <a:ext cx="3063240" cy="3063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27480" y="9418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Seña I</a:t>
            </a:r>
          </a:p>
        </p:txBody>
      </p:sp>
      <p:sp>
        <p:nvSpPr>
          <p:cNvPr id="22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2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C6F48F6-1734-C864-3A86-D0E28FD954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Conjunto de datos y preparación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468880"/>
            <a:ext cx="731520" cy="731520"/>
          </a:xfrm>
          <a:prstGeom prst="ellipse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423160"/>
            <a:ext cx="7498079" cy="1672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 err="1">
                <a:solidFill>
                  <a:srgbClr val="005599"/>
                </a:solidFill>
                <a:latin typeface="Arial"/>
              </a:rPr>
              <a:t>Dataset</a:t>
            </a:r>
            <a:endParaRPr lang="es-CL" sz="2200" b="1" noProof="0" dirty="0">
              <a:solidFill>
                <a:srgbClr val="005599"/>
              </a:solidFill>
              <a:latin typeface="Arial"/>
            </a:endParaRPr>
          </a:p>
          <a:p>
            <a:pPr algn="l">
              <a:spcBef>
                <a:spcPts val="200"/>
              </a:spcBef>
            </a:pP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Sign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Language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MNIST filtrado a 10 clases</a:t>
            </a:r>
          </a:p>
          <a:p>
            <a:pPr>
              <a:spcBef>
                <a:spcPts val="200"/>
              </a:spcBef>
            </a:pPr>
            <a:endParaRPr lang="es-CL" sz="2000" i="1" u="sng" dirty="0">
              <a:solidFill>
                <a:srgbClr val="111827"/>
              </a:solidFill>
              <a:latin typeface="Arial"/>
            </a:endParaRPr>
          </a:p>
          <a:p>
            <a:pPr>
              <a:spcBef>
                <a:spcPts val="200"/>
              </a:spcBef>
            </a:pPr>
            <a:r>
              <a:rPr lang="es-CL" sz="2000" i="1" u="sng" dirty="0">
                <a:solidFill>
                  <a:srgbClr val="111827"/>
                </a:solidFill>
                <a:latin typeface="Arial"/>
              </a:rPr>
              <a:t>Se usa el mismo set de datos de la evaluación anterior.</a:t>
            </a:r>
          </a:p>
          <a:p>
            <a:pPr algn="l">
              <a:spcBef>
                <a:spcPts val="200"/>
              </a:spcBef>
            </a:pPr>
            <a:endParaRPr lang="es-CL" sz="2000" b="0" noProof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4069080"/>
            <a:ext cx="731520" cy="731520"/>
          </a:xfrm>
          <a:prstGeom prst="ellipse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023360"/>
            <a:ext cx="7498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Normalización</a:t>
            </a:r>
          </a:p>
          <a:p>
            <a:pPr algn="l">
              <a:spcBef>
                <a:spcPts val="200"/>
              </a:spcBef>
            </a:pP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Píxeles escalados al rango [0,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5669280"/>
            <a:ext cx="731520" cy="731520"/>
          </a:xfrm>
          <a:prstGeom prst="ellipse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23560"/>
            <a:ext cx="7498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Formato</a:t>
            </a:r>
          </a:p>
          <a:p>
            <a:pPr algn="l">
              <a:spcBef>
                <a:spcPts val="200"/>
              </a:spcBef>
            </a:pP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(28, 28, 1): se conserva la matriz de la imagen; el MLP la aplanaba a 784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7269480"/>
            <a:ext cx="731520" cy="731520"/>
          </a:xfrm>
          <a:prstGeom prst="ellipse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72694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2400" b="1" noProof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7223760"/>
            <a:ext cx="7498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Partición</a:t>
            </a:r>
          </a:p>
          <a:p>
            <a:pPr algn="l">
              <a:spcBef>
                <a:spcPts val="200"/>
              </a:spcBef>
            </a:pP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80/20 estratificada en entrenamiento y validación; test oficial reservado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249504"/>
              </p:ext>
            </p:extLst>
          </p:nvPr>
        </p:nvGraphicFramePr>
        <p:xfrm>
          <a:off x="10241280" y="2651760"/>
          <a:ext cx="7132320" cy="603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3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6C32FD1-F90B-7C49-B4FC-3977EC3AAB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Arquitecturas: MLP vs CNN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5486400" cy="68580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000" b="1" noProof="0" dirty="0">
                <a:solidFill>
                  <a:srgbClr val="6B7F99"/>
                </a:solidFill>
                <a:latin typeface="Arial"/>
              </a:rPr>
              <a:t>MLP</a:t>
            </a:r>
          </a:p>
          <a:p>
            <a:pPr algn="l">
              <a:spcBef>
                <a:spcPts val="200"/>
              </a:spcBef>
            </a:pP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control (Evaluación 1) · 101.770 par.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657600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6B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2100" b="1" noProof="0" dirty="0">
                <a:solidFill>
                  <a:srgbClr val="FFFFFF"/>
                </a:solidFill>
                <a:latin typeface="Arial"/>
              </a:rPr>
              <a:t>Flatten</a:t>
            </a:r>
          </a:p>
          <a:p>
            <a:pPr algn="l"/>
            <a:r>
              <a:rPr lang="es-CL" sz="1600" b="0" noProof="0" dirty="0">
                <a:solidFill>
                  <a:srgbClr val="FFFFFF"/>
                </a:solidFill>
                <a:latin typeface="Arial"/>
              </a:rPr>
              <a:t>784 valores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92040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6B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489204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2100" b="1" noProof="0" dirty="0">
                <a:solidFill>
                  <a:srgbClr val="FFFFFF"/>
                </a:solidFill>
                <a:latin typeface="Arial"/>
              </a:rPr>
              <a:t>Dense 128 · </a:t>
            </a:r>
            <a:r>
              <a:rPr lang="es-CL" sz="2100" b="1" noProof="0" dirty="0" err="1">
                <a:solidFill>
                  <a:srgbClr val="FFFFFF"/>
                </a:solidFill>
                <a:latin typeface="Arial"/>
              </a:rPr>
              <a:t>ReLU</a:t>
            </a:r>
            <a:endParaRPr lang="es-CL" sz="2100" b="1" noProof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s-CL" sz="1600" b="0" noProof="0" dirty="0">
                <a:solidFill>
                  <a:srgbClr val="FFFFFF"/>
                </a:solidFill>
                <a:latin typeface="Arial"/>
              </a:rPr>
              <a:t>100.480 par.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6126480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6B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61264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2100" b="1" noProof="0" dirty="0">
                <a:solidFill>
                  <a:srgbClr val="FFFFFF"/>
                </a:solidFill>
                <a:latin typeface="Arial"/>
              </a:rPr>
              <a:t>Dense 10 · </a:t>
            </a:r>
            <a:r>
              <a:rPr lang="es-CL" sz="2100" b="1" noProof="0" dirty="0" err="1">
                <a:solidFill>
                  <a:srgbClr val="FFFFFF"/>
                </a:solidFill>
                <a:latin typeface="Arial"/>
              </a:rPr>
              <a:t>Softmax</a:t>
            </a:r>
            <a:endParaRPr lang="es-CL" sz="2100" b="1" noProof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s-CL" sz="1600" b="0" noProof="0" dirty="0">
                <a:solidFill>
                  <a:srgbClr val="FFFFFF"/>
                </a:solidFill>
                <a:latin typeface="Arial"/>
              </a:rPr>
              <a:t>1.290 par.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7498079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noProof="0" dirty="0">
                <a:solidFill>
                  <a:srgbClr val="5B6778"/>
                </a:solidFill>
                <a:latin typeface="Arial"/>
              </a:rPr>
              <a:t>Ve la imagen como un vector: no usa la vecindad entre píxeles.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377440"/>
            <a:ext cx="10424160" cy="68580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223760" y="256032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000" b="1" noProof="0" dirty="0">
                <a:solidFill>
                  <a:srgbClr val="005599"/>
                </a:solidFill>
                <a:latin typeface="Arial"/>
              </a:rPr>
              <a:t>CNN</a:t>
            </a:r>
          </a:p>
          <a:p>
            <a:pPr algn="l">
              <a:spcBef>
                <a:spcPts val="200"/>
              </a:spcBef>
            </a:pPr>
            <a:r>
              <a:rPr lang="es-CL" sz="1700" b="0" noProof="0" dirty="0">
                <a:solidFill>
                  <a:srgbClr val="5B6778"/>
                </a:solidFill>
                <a:latin typeface="Arial"/>
              </a:rPr>
              <a:t>propuesta (Evaluación 2) · 693.962 par.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65760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406640" y="36576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FFFFF"/>
                </a:solidFill>
                <a:latin typeface="Arial"/>
              </a:rPr>
              <a:t>Conv2D · 32 filtros 3×3 · </a:t>
            </a:r>
            <a:r>
              <a:rPr lang="es-CL" sz="1900" b="1" noProof="0" dirty="0" err="1">
                <a:solidFill>
                  <a:srgbClr val="FFFFFF"/>
                </a:solidFill>
                <a:latin typeface="Arial"/>
              </a:rPr>
              <a:t>ReLU</a:t>
            </a:r>
            <a:endParaRPr lang="es-CL" sz="1900" b="1" noProof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s-CL" sz="1500" b="0" noProof="0" dirty="0">
                <a:solidFill>
                  <a:srgbClr val="FFFFFF"/>
                </a:solidFill>
                <a:latin typeface="Arial"/>
              </a:rPr>
              <a:t>26×26×32 · 320 par.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0" y="36576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 noProof="0" dirty="0">
                <a:solidFill>
                  <a:srgbClr val="111827"/>
                </a:solidFill>
                <a:latin typeface="Arial"/>
              </a:rPr>
              <a:t>Aprende bordes y contornos de los dedos directo de la imagen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75488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406640" y="47548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FFFFF"/>
                </a:solidFill>
                <a:latin typeface="Arial"/>
              </a:rPr>
              <a:t>MaxPooling2D · 2×2</a:t>
            </a:r>
          </a:p>
          <a:p>
            <a:pPr algn="l"/>
            <a:r>
              <a:rPr lang="es-CL" sz="1500" b="0" noProof="0" dirty="0">
                <a:solidFill>
                  <a:srgbClr val="FFFFFF"/>
                </a:solidFill>
                <a:latin typeface="Arial"/>
              </a:rPr>
              <a:t>13×13×32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0" y="47548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 noProof="0" dirty="0">
                <a:solidFill>
                  <a:srgbClr val="111827"/>
                </a:solidFill>
                <a:latin typeface="Arial"/>
              </a:rPr>
              <a:t>Reduce a la mitad y tolera pequeños desplazamientos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58521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406640" y="58521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FFFFF"/>
                </a:solidFill>
                <a:latin typeface="Arial"/>
              </a:rPr>
              <a:t>Flatten</a:t>
            </a:r>
          </a:p>
          <a:p>
            <a:pPr algn="l"/>
            <a:r>
              <a:rPr lang="es-CL" sz="1500" b="0" noProof="0" dirty="0">
                <a:solidFill>
                  <a:srgbClr val="FFFFFF"/>
                </a:solidFill>
                <a:latin typeface="Arial"/>
              </a:rPr>
              <a:t>5.408 valores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0" y="58521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 noProof="0" dirty="0">
                <a:solidFill>
                  <a:srgbClr val="111827"/>
                </a:solidFill>
                <a:latin typeface="Arial"/>
              </a:rPr>
              <a:t>Pasa a vector para las capas densas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69494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7406640" y="69494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FFFFF"/>
                </a:solidFill>
                <a:latin typeface="Arial"/>
              </a:rPr>
              <a:t>Dense 128 · </a:t>
            </a:r>
            <a:r>
              <a:rPr lang="es-CL" sz="1900" b="1" noProof="0" dirty="0" err="1">
                <a:solidFill>
                  <a:srgbClr val="FFFFFF"/>
                </a:solidFill>
                <a:latin typeface="Arial"/>
              </a:rPr>
              <a:t>ReLU</a:t>
            </a:r>
            <a:endParaRPr lang="es-CL" sz="1900" b="1" noProof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s-CL" sz="1500" b="0" noProof="0" dirty="0">
                <a:solidFill>
                  <a:srgbClr val="FFFFFF"/>
                </a:solidFill>
                <a:latin typeface="Arial"/>
              </a:rPr>
              <a:t>692.352 par.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0" y="69494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 noProof="0" dirty="0">
                <a:solidFill>
                  <a:srgbClr val="111827"/>
                </a:solidFill>
                <a:latin typeface="Arial"/>
              </a:rPr>
              <a:t>Mismo ancho que el MLP: solo cambia la parte convolucional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804672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406640" y="80467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900" b="1" noProof="0" dirty="0">
                <a:solidFill>
                  <a:srgbClr val="FFFFFF"/>
                </a:solidFill>
                <a:latin typeface="Arial"/>
              </a:rPr>
              <a:t>Dense 10 · </a:t>
            </a:r>
            <a:r>
              <a:rPr lang="es-CL" sz="1900" b="1" noProof="0" dirty="0" err="1">
                <a:solidFill>
                  <a:srgbClr val="FFFFFF"/>
                </a:solidFill>
                <a:latin typeface="Arial"/>
              </a:rPr>
              <a:t>Softmax</a:t>
            </a:r>
            <a:endParaRPr lang="es-CL" sz="1900" b="1" noProof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s-CL" sz="1500" b="0" noProof="0" dirty="0">
                <a:solidFill>
                  <a:srgbClr val="FFFFFF"/>
                </a:solidFill>
                <a:latin typeface="Arial"/>
              </a:rPr>
              <a:t>1.290 par.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0" y="80467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 noProof="0" dirty="0">
                <a:solidFill>
                  <a:srgbClr val="111827"/>
                </a:solidFill>
                <a:latin typeface="Arial"/>
              </a:rPr>
              <a:t>Una probabilidad por clase (A–O)</a:t>
            </a:r>
          </a:p>
        </p:txBody>
      </p:sp>
      <p:sp>
        <p:nvSpPr>
          <p:cNvPr id="30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4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DA7C55DA-9087-54DB-446A-CADDC20D44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16582154">
            <a:off x="16518588" y="-2317809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Configuración de entrenamiento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2472763"/>
            <a:ext cx="4404360" cy="1005841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34312" y="2660054"/>
            <a:ext cx="41662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1" noProof="0" dirty="0">
                <a:solidFill>
                  <a:srgbClr val="005599"/>
                </a:solidFill>
                <a:latin typeface="Arial"/>
              </a:rPr>
              <a:t>Optimizador</a:t>
            </a:r>
          </a:p>
          <a:p>
            <a:pPr algn="l"/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Adam · tasa de aprendizaje 0,001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3707203"/>
            <a:ext cx="4404360" cy="1005841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34312" y="3894494"/>
            <a:ext cx="41662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1" noProof="0" dirty="0">
                <a:solidFill>
                  <a:srgbClr val="005599"/>
                </a:solidFill>
                <a:latin typeface="Arial"/>
              </a:rPr>
              <a:t>Pérdida</a:t>
            </a:r>
          </a:p>
          <a:p>
            <a:pPr algn="l"/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Sparse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categorical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crossentropy</a:t>
            </a:r>
            <a:endParaRPr lang="es-CL" sz="2000" b="0" noProof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3400" y="4941643"/>
            <a:ext cx="4404360" cy="1005841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34312" y="5063044"/>
            <a:ext cx="41662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1" noProof="0" dirty="0">
                <a:solidFill>
                  <a:srgbClr val="005599"/>
                </a:solidFill>
                <a:latin typeface="Arial"/>
              </a:rPr>
              <a:t>Épocas · </a:t>
            </a:r>
            <a:r>
              <a:rPr lang="es-CL" sz="1700" b="1" noProof="0" dirty="0" err="1">
                <a:solidFill>
                  <a:srgbClr val="005599"/>
                </a:solidFill>
                <a:latin typeface="Arial"/>
              </a:rPr>
              <a:t>batch</a:t>
            </a:r>
            <a:endParaRPr lang="es-CL" sz="1700" b="1" noProof="0" dirty="0">
              <a:solidFill>
                <a:srgbClr val="005599"/>
              </a:solidFill>
              <a:latin typeface="Arial"/>
            </a:endParaRPr>
          </a:p>
          <a:p>
            <a:pPr algn="l"/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10 épocas ·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batch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de 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6176083"/>
            <a:ext cx="4404360" cy="1005841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34312" y="6297484"/>
            <a:ext cx="41662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1" noProof="0" dirty="0">
                <a:solidFill>
                  <a:srgbClr val="005599"/>
                </a:solidFill>
                <a:latin typeface="Arial"/>
              </a:rPr>
              <a:t>Regularización</a:t>
            </a:r>
          </a:p>
          <a:p>
            <a:pPr algn="l"/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Ninguna (sin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Dropout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, L1 ni 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7528334"/>
            <a:ext cx="4404360" cy="1272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 dirty="0">
                <a:solidFill>
                  <a:srgbClr val="111827"/>
                </a:solidFill>
                <a:latin typeface="Arial"/>
              </a:rPr>
              <a:t>Mismas condiciones para MLP y CNN.</a:t>
            </a:r>
          </a:p>
          <a:p>
            <a:pPr algn="l">
              <a:spcBef>
                <a:spcPts val="800"/>
              </a:spcBef>
            </a:pPr>
            <a:r>
              <a:rPr lang="es-CL" sz="1900" b="0" noProof="0" dirty="0">
                <a:solidFill>
                  <a:srgbClr val="111827"/>
                </a:solidFill>
                <a:latin typeface="Arial"/>
              </a:rPr>
              <a:t>La CNN llega a ~100 % en validación y 92,66 % en test: la validación resulta más optimista.</a:t>
            </a:r>
          </a:p>
        </p:txBody>
      </p:sp>
      <p:pic>
        <p:nvPicPr>
          <p:cNvPr id="13" name="Picture 12" descr="nb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468" y="1505453"/>
            <a:ext cx="12115800" cy="8050027"/>
          </a:xfrm>
          <a:prstGeom prst="rect">
            <a:avLst/>
          </a:prstGeom>
        </p:spPr>
      </p:pic>
      <p:sp>
        <p:nvSpPr>
          <p:cNvPr id="14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5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63A28D1-6CDC-8717-7255-8DEC0DF8C9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Resultados en test: MLP vs CNN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46574"/>
              </p:ext>
            </p:extLst>
          </p:nvPr>
        </p:nvGraphicFramePr>
        <p:xfrm>
          <a:off x="914400" y="2468880"/>
          <a:ext cx="1060704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05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anchor="ctr">
                    <a:solidFill>
                      <a:srgbClr val="005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CNN</a:t>
                      </a:r>
                    </a:p>
                  </a:txBody>
                  <a:tcPr anchor="ctr">
                    <a:solidFill>
                      <a:srgbClr val="005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Diferencia</a:t>
                      </a:r>
                    </a:p>
                  </a:txBody>
                  <a:tcPr anchor="ctr">
                    <a:solidFill>
                      <a:srgbClr val="005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Accuracy</a:t>
                      </a:r>
                      <a:endParaRPr lang="es-CL" sz="1900" b="1" noProof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87,58 %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92,66 %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+5,09 </a:t>
                      </a:r>
                      <a:r>
                        <a:rPr lang="es-CL" sz="1900" b="0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pp</a:t>
                      </a:r>
                      <a:endParaRPr lang="es-CL" sz="1900" b="0" noProof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Precision</a:t>
                      </a:r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 macro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86,79 %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92,43 %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+5,64 </a:t>
                      </a:r>
                      <a:r>
                        <a:rPr lang="es-CL" sz="1900" b="0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pp</a:t>
                      </a:r>
                      <a:endParaRPr lang="es-CL" sz="1900" b="0" noProof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Recall</a:t>
                      </a:r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 macro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87,23 %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91,84 %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+4,61 </a:t>
                      </a:r>
                      <a:r>
                        <a:rPr lang="es-CL" sz="1900" b="0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pp</a:t>
                      </a:r>
                      <a:endParaRPr lang="es-CL" sz="1900" b="0" noProof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F1 macro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86,51 %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91,77 %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+5,26 </a:t>
                      </a:r>
                      <a:r>
                        <a:rPr lang="es-CL" sz="1900" b="0" noProof="0" dirty="0" err="1">
                          <a:solidFill>
                            <a:srgbClr val="111827"/>
                          </a:solidFill>
                          <a:latin typeface="Arial"/>
                        </a:rPr>
                        <a:t>pp</a:t>
                      </a:r>
                      <a:endParaRPr lang="es-CL" sz="1900" b="0" noProof="0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Errores (de 3.244)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−165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Parámetros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101.770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693.962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×6,8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Entrenamiento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7,23 s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54,72 s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×7,6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s-CL" sz="1900" b="1" noProof="0" dirty="0">
                          <a:solidFill>
                            <a:srgbClr val="111827"/>
                          </a:solidFill>
                          <a:latin typeface="Arial"/>
                        </a:rPr>
                        <a:t>Inferencia por imagen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0,218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1" noProof="0" dirty="0">
                          <a:solidFill>
                            <a:srgbClr val="005599"/>
                          </a:solidFill>
                          <a:latin typeface="Arial"/>
                        </a:rPr>
                        <a:t>0,336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900" b="0" noProof="0" dirty="0">
                          <a:solidFill>
                            <a:srgbClr val="111827"/>
                          </a:solidFill>
                          <a:latin typeface="Arial"/>
                        </a:rPr>
                        <a:t>×1,5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35840" y="2468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noProof="0" dirty="0">
                <a:solidFill>
                  <a:srgbClr val="5B6778"/>
                </a:solidFill>
                <a:latin typeface="Arial"/>
              </a:rPr>
              <a:t>CNN · </a:t>
            </a:r>
            <a:r>
              <a:rPr lang="es-CL" sz="1800" b="0" noProof="0" dirty="0" err="1">
                <a:solidFill>
                  <a:srgbClr val="5B6778"/>
                </a:solidFill>
                <a:latin typeface="Arial"/>
              </a:rPr>
              <a:t>accuracy</a:t>
            </a:r>
            <a:r>
              <a:rPr lang="es-CL" sz="1800" b="0" noProof="0" dirty="0">
                <a:solidFill>
                  <a:srgbClr val="5B6778"/>
                </a:solidFill>
                <a:latin typeface="Arial"/>
              </a:rPr>
              <a:t> en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0" y="28346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7000" b="1" noProof="0" dirty="0">
                <a:solidFill>
                  <a:srgbClr val="005599"/>
                </a:solidFill>
                <a:latin typeface="Arial"/>
              </a:rPr>
              <a:t>92,66 %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0" y="4572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noProof="0" dirty="0">
                <a:solidFill>
                  <a:srgbClr val="5B6778"/>
                </a:solidFill>
                <a:latin typeface="Arial"/>
              </a:rPr>
              <a:t>MLP · </a:t>
            </a:r>
            <a:r>
              <a:rPr lang="es-CL" sz="1800" b="0" noProof="0" dirty="0" err="1">
                <a:solidFill>
                  <a:srgbClr val="5B6778"/>
                </a:solidFill>
                <a:latin typeface="Arial"/>
              </a:rPr>
              <a:t>accuracy</a:t>
            </a:r>
            <a:r>
              <a:rPr lang="es-CL" sz="1800" b="0" noProof="0" dirty="0">
                <a:solidFill>
                  <a:srgbClr val="5B6778"/>
                </a:solidFill>
                <a:latin typeface="Arial"/>
              </a:rPr>
              <a:t> en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0" y="49377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7000" b="1" noProof="0" dirty="0">
                <a:solidFill>
                  <a:srgbClr val="6B7F99"/>
                </a:solidFill>
                <a:latin typeface="Arial"/>
              </a:rPr>
              <a:t>87,58 %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0" y="66751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100" b="1" noProof="0" dirty="0">
                <a:solidFill>
                  <a:srgbClr val="111827"/>
                </a:solidFill>
                <a:latin typeface="Arial"/>
              </a:rPr>
              <a:t>La CNN mejora todas las métricas con mayor costo computacional.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8778240"/>
            <a:ext cx="1417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 dirty="0">
                <a:solidFill>
                  <a:srgbClr val="5B6778"/>
                </a:solidFill>
                <a:latin typeface="Arial"/>
              </a:rPr>
              <a:t>MLP </a:t>
            </a:r>
            <a:r>
              <a:rPr lang="es-CL" sz="1500" b="0" noProof="0" dirty="0" err="1">
                <a:solidFill>
                  <a:srgbClr val="5B6778"/>
                </a:solidFill>
                <a:latin typeface="Arial"/>
              </a:rPr>
              <a:t>re-entrenado</a:t>
            </a:r>
            <a:r>
              <a:rPr lang="es-CL" sz="1500" b="0" noProof="0" dirty="0">
                <a:solidFill>
                  <a:srgbClr val="5B6778"/>
                </a:solidFill>
                <a:latin typeface="Arial"/>
              </a:rPr>
              <a:t> bajo las mismas condiciones de esta evaluación (el reporte histórico de la Evaluación 1 indica 89,77 % de </a:t>
            </a:r>
            <a:r>
              <a:rPr lang="es-CL" sz="1500" b="0" noProof="0" dirty="0" err="1">
                <a:solidFill>
                  <a:srgbClr val="5B6778"/>
                </a:solidFill>
                <a:latin typeface="Arial"/>
              </a:rPr>
              <a:t>accuracy</a:t>
            </a:r>
            <a:r>
              <a:rPr lang="es-CL" sz="1500" b="0" noProof="0" dirty="0">
                <a:solidFill>
                  <a:srgbClr val="5B6778"/>
                </a:solidFill>
                <a:latin typeface="Arial"/>
              </a:rPr>
              <a:t>).</a:t>
            </a:r>
          </a:p>
        </p:txBody>
      </p:sp>
      <p:sp>
        <p:nvSpPr>
          <p:cNvPr id="11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1067F1E-8C78-0319-346C-4BE1F625D6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Análisis de errores</a:t>
            </a:r>
          </a:p>
        </p:txBody>
      </p:sp>
      <p:pic>
        <p:nvPicPr>
          <p:cNvPr id="4" name="Picture 3" descr="nb_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2459293"/>
            <a:ext cx="11887200" cy="5368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79680" y="2987808"/>
            <a:ext cx="5394960" cy="203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Confusiones principales de la CNN: </a:t>
            </a:r>
          </a:p>
          <a:p>
            <a:pPr algn="l"/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N→M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(67)</a:t>
            </a:r>
          </a:p>
          <a:p>
            <a:pPr algn="l"/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N→A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(42)</a:t>
            </a:r>
          </a:p>
          <a:p>
            <a:pPr algn="l"/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O→N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(41)</a:t>
            </a:r>
          </a:p>
          <a:p>
            <a:pPr algn="l"/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M→N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(21)</a:t>
            </a:r>
          </a:p>
          <a:p>
            <a:pPr algn="l"/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N→D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(21)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79680" y="5676900"/>
            <a:ext cx="5029200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Clase N, la más difícil: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recall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64 % (MLP) y 55 % (CNN).</a:t>
            </a:r>
          </a:p>
          <a:p>
            <a:pPr algn="l">
              <a:spcBef>
                <a:spcPts val="1600"/>
              </a:spcBef>
            </a:pPr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Mejoras de la CNN: </a:t>
            </a:r>
          </a:p>
          <a:p>
            <a:pPr algn="l">
              <a:spcBef>
                <a:spcPts val="1600"/>
              </a:spcBef>
            </a:pP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M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- 71→90 % e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I - 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88→100 % de </a:t>
            </a:r>
            <a:r>
              <a:rPr lang="es-CL" sz="2000" b="0" noProof="0" dirty="0" err="1">
                <a:solidFill>
                  <a:srgbClr val="111827"/>
                </a:solidFill>
                <a:latin typeface="Arial"/>
              </a:rPr>
              <a:t>recall</a:t>
            </a:r>
            <a:endParaRPr lang="es-CL" sz="2000" b="0" noProof="0" dirty="0">
              <a:solidFill>
                <a:srgbClr val="111827"/>
              </a:solidFill>
              <a:latin typeface="Arial"/>
            </a:endParaRPr>
          </a:p>
          <a:p>
            <a:pPr algn="l">
              <a:spcBef>
                <a:spcPts val="1600"/>
              </a:spcBef>
            </a:pP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O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 sube su precisión de 81 a 99 %.</a:t>
            </a:r>
          </a:p>
          <a:p>
            <a:pPr algn="l">
              <a:spcBef>
                <a:spcPts val="1600"/>
              </a:spcBef>
            </a:pPr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F1 = 1,00 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en B, C y L.</a:t>
            </a:r>
          </a:p>
        </p:txBody>
      </p:sp>
      <p:sp>
        <p:nvSpPr>
          <p:cNvPr id="7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7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E8F40F5-5704-7667-97C7-10919B5B3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Ejemplos de aciertos y errores</a:t>
            </a:r>
          </a:p>
        </p:txBody>
      </p:sp>
      <p:pic>
        <p:nvPicPr>
          <p:cNvPr id="4" name="Picture 3" descr="nb_1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77440"/>
            <a:ext cx="8229600" cy="6031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868680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Filas 1–2: MLP (aciertos y errores). Filas 3–4: CNN (aciertos y errores).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560320"/>
            <a:ext cx="6492240" cy="548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N ↔ M ↔ A: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puños con el pulgar en posiciones casi idénticas a 28×28 </a:t>
            </a:r>
            <a:r>
              <a:rPr lang="es-CL" sz="2200" b="0" noProof="0" dirty="0" err="1">
                <a:solidFill>
                  <a:srgbClr val="111827"/>
                </a:solidFill>
                <a:latin typeface="Arial"/>
              </a:rPr>
              <a:t>px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.</a:t>
            </a:r>
          </a:p>
          <a:p>
            <a:pPr algn="l">
              <a:spcBef>
                <a:spcPts val="2200"/>
              </a:spcBef>
            </a:pPr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O → E: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el círculo de la O se cierra y se parece a una E.</a:t>
            </a:r>
          </a:p>
          <a:p>
            <a:pPr algn="l">
              <a:spcBef>
                <a:spcPts val="2200"/>
              </a:spcBef>
            </a:pPr>
            <a:r>
              <a:rPr lang="es-CL" sz="22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200" b="1" noProof="0" dirty="0">
                <a:solidFill>
                  <a:srgbClr val="111827"/>
                </a:solidFill>
                <a:latin typeface="Arial"/>
              </a:rPr>
              <a:t>Resolución baja: </a:t>
            </a:r>
            <a:r>
              <a:rPr lang="es-CL" sz="2200" b="0" noProof="0" dirty="0">
                <a:solidFill>
                  <a:srgbClr val="111827"/>
                </a:solidFill>
                <a:latin typeface="Arial"/>
              </a:rPr>
              <a:t>hay poca información para separar señas parecidas.</a:t>
            </a:r>
          </a:p>
        </p:txBody>
      </p:sp>
      <p:sp>
        <p:nvSpPr>
          <p:cNvPr id="7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8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87AD666-F464-603C-C821-0EC3420B21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Mapas de características y Grad-CAM</a:t>
            </a:r>
          </a:p>
        </p:txBody>
      </p:sp>
      <p:pic>
        <p:nvPicPr>
          <p:cNvPr id="4" name="Picture 3" descr="nb_15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31720"/>
            <a:ext cx="16093440" cy="2510172"/>
          </a:xfrm>
          <a:prstGeom prst="rect">
            <a:avLst/>
          </a:prstGeom>
        </p:spPr>
      </p:pic>
      <p:pic>
        <p:nvPicPr>
          <p:cNvPr id="5" name="Picture 4" descr="nb_16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40680"/>
            <a:ext cx="8595360" cy="38742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66960" y="5486400"/>
            <a:ext cx="7406640" cy="548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conv_1: 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los filtros resaltan bordes y contornos de los dedos.</a:t>
            </a:r>
          </a:p>
          <a:p>
            <a:pPr algn="l">
              <a:spcBef>
                <a:spcPts val="1400"/>
              </a:spcBef>
            </a:pPr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Grad-CAM: 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en A, E, M y O la activación se concentra en dedos y borde de la mano.</a:t>
            </a:r>
          </a:p>
          <a:p>
            <a:pPr algn="l">
              <a:spcBef>
                <a:spcPts val="1400"/>
              </a:spcBef>
            </a:pPr>
            <a:r>
              <a:rPr lang="es-CL" sz="2000" b="1" noProof="0" dirty="0">
                <a:solidFill>
                  <a:srgbClr val="005599"/>
                </a:solidFill>
                <a:latin typeface="Arial"/>
              </a:rPr>
              <a:t>•  </a:t>
            </a:r>
            <a:r>
              <a:rPr lang="es-CL" sz="2000" b="1" noProof="0" dirty="0">
                <a:solidFill>
                  <a:srgbClr val="111827"/>
                </a:solidFill>
                <a:latin typeface="Arial"/>
              </a:rPr>
              <a:t>Matiz: </a:t>
            </a:r>
            <a:r>
              <a:rPr lang="es-CL" sz="2000" b="0" noProof="0" dirty="0">
                <a:solidFill>
                  <a:srgbClr val="111827"/>
                </a:solidFill>
                <a:latin typeface="Arial"/>
              </a:rPr>
              <a:t>en B y C la activación es débil y en L también se activa parte del fondo.</a:t>
            </a:r>
          </a:p>
        </p:txBody>
      </p:sp>
      <p:sp>
        <p:nvSpPr>
          <p:cNvPr id="7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9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E07E29-32F5-7119-99E2-2BCECDBC5D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314927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"/>
          <p:cNvSpPr/>
          <p:nvPr/>
        </p:nvSpPr>
        <p:spPr>
          <a:xfrm rot="-4215889">
            <a:off x="15544800" y="-2468880"/>
            <a:ext cx="4206240" cy="5198724"/>
          </a:xfrm>
          <a:custGeom>
            <a:avLst/>
            <a:gdLst/>
            <a:ahLst/>
            <a:cxnLst/>
            <a:rect l="l" t="t" r="r" b="b"/>
            <a:pathLst>
              <a:path w="6518395" h="8056444">
                <a:moveTo>
                  <a:pt x="0" y="0"/>
                </a:moveTo>
                <a:lnTo>
                  <a:pt x="6518395" y="0"/>
                </a:lnTo>
                <a:lnTo>
                  <a:pt x="6518395" y="8056444"/>
                </a:lnTo>
                <a:lnTo>
                  <a:pt x="0" y="805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ítulo"/>
          <p:cNvSpPr txBox="1"/>
          <p:nvPr/>
        </p:nvSpPr>
        <p:spPr>
          <a:xfrm>
            <a:off x="914400" y="822960"/>
            <a:ext cx="14081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4400" b="1" noProof="0" dirty="0">
                <a:solidFill>
                  <a:srgbClr val="111827"/>
                </a:solidFill>
                <a:latin typeface="Arial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234440" y="2834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800" b="1" noProof="0" dirty="0">
                <a:solidFill>
                  <a:srgbClr val="005599"/>
                </a:solidFill>
                <a:latin typeface="Arial"/>
              </a:rPr>
              <a:t>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49039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CNN 92,66 % vs MLP 87,58 %: +5,09 </a:t>
            </a:r>
            <a:r>
              <a:rPr lang="es-CL" sz="2400" b="0" noProof="0" dirty="0" err="1">
                <a:solidFill>
                  <a:srgbClr val="111827"/>
                </a:solidFill>
                <a:latin typeface="Arial"/>
              </a:rPr>
              <a:t>pp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 y 165 errores menos en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56032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812279" y="2834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800" b="1" noProof="0" dirty="0">
                <a:solidFill>
                  <a:srgbClr val="005599"/>
                </a:solidFill>
                <a:latin typeface="Arial"/>
              </a:rPr>
              <a:t>Costo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79" y="3749039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6,8× más parámetros y 7,6× más tiempo de entrenamiento; la inferencia sigue en 0,34 ms por imagen.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256032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2390119" y="2834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800" b="1" noProof="0" dirty="0">
                <a:solidFill>
                  <a:srgbClr val="005599"/>
                </a:solidFill>
                <a:latin typeface="Arial"/>
              </a:rPr>
              <a:t>Limitaciones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90119" y="3749039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Una sola capa convolucional y 10 clases. Validación (~100 %) más optimista que el test. La clase N sigue difícil (</a:t>
            </a:r>
            <a:r>
              <a:rPr lang="es-CL" sz="2400" b="0" noProof="0" dirty="0" err="1">
                <a:solidFill>
                  <a:srgbClr val="111827"/>
                </a:solidFill>
                <a:latin typeface="Arial"/>
              </a:rPr>
              <a:t>recall</a:t>
            </a:r>
            <a:r>
              <a:rPr lang="es-CL" sz="2400" b="0" noProof="0" dirty="0">
                <a:solidFill>
                  <a:srgbClr val="111827"/>
                </a:solidFill>
                <a:latin typeface="Arial"/>
              </a:rPr>
              <a:t> 55 %).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498079"/>
            <a:ext cx="164592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100" b="1" noProof="0" dirty="0">
                <a:solidFill>
                  <a:srgbClr val="005599"/>
                </a:solidFill>
                <a:latin typeface="Arial"/>
              </a:rPr>
              <a:t>Trabajo futuro: </a:t>
            </a:r>
            <a:r>
              <a:rPr lang="es-CL" sz="2100" b="0" noProof="0" dirty="0">
                <a:solidFill>
                  <a:srgbClr val="111827"/>
                </a:solidFill>
                <a:latin typeface="Arial"/>
              </a:rPr>
              <a:t>más capas convolucionales y aumento de datos.</a:t>
            </a:r>
          </a:p>
        </p:txBody>
      </p:sp>
      <p:sp>
        <p:nvSpPr>
          <p:cNvPr id="15" name="N° diapositiva"/>
          <p:cNvSpPr txBox="1"/>
          <p:nvPr/>
        </p:nvSpPr>
        <p:spPr>
          <a:xfrm>
            <a:off x="16642080" y="95554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0" noProof="0" dirty="0">
                <a:solidFill>
                  <a:srgbClr val="5B6778"/>
                </a:solidFill>
                <a:latin typeface="Arial"/>
              </a:rPr>
              <a:t>10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006B5F3-1436-26C1-1427-3A584A393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86539"/>
            <a:ext cx="3429000" cy="842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1191</Words>
  <Application>Microsoft Office PowerPoint</Application>
  <PresentationFormat>Personalizado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con Plantilla</dc:title>
  <cp:lastModifiedBy>EDUARDO PAREDES SALAS</cp:lastModifiedBy>
  <cp:revision>3</cp:revision>
  <dcterms:created xsi:type="dcterms:W3CDTF">2006-08-16T00:00:00Z</dcterms:created>
  <dcterms:modified xsi:type="dcterms:W3CDTF">2026-10-13T07:26:46Z</dcterms:modified>
  <dc:identifier>DAHX3gEI7Q8</dc:identifier>
</cp:coreProperties>
</file>